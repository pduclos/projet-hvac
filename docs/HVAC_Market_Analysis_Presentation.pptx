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HVAC 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Calibri"/>
              </a:defRPr>
            </a:pPr>
            <a:r>
              <a:t>Predictive Analysis of the HVAC Market across Metropolitan France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2743200" cy="381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Patrice DUCLOS  |  Senior Data Analyst  |  20 years of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Data Science Lead Certification  —  Jedha Bootcamp (Bac+5, RNCP Level 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898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Project Vision &amp;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874520"/>
            <a:ext cx="365760" cy="36576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92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Data Sources &amp; Collection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377440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95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80360"/>
            <a:ext cx="365760" cy="36576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98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Data Pipeline (ELT)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383280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015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886200"/>
            <a:ext cx="365760" cy="36576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044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Machine Learning Models &amp; Results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389120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074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API &amp; Dashboard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892040"/>
            <a:ext cx="365760" cy="36576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103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Deployment &amp; DevOps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394960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4132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Certification Coverage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897880"/>
            <a:ext cx="365760" cy="36576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916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Calibri"/>
              </a:defRPr>
            </a:pPr>
            <a:r>
              <a:t>Key Takeaways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01  Project Vision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D47A1"/>
                </a:solidFill>
                <a:latin typeface="Calibri"/>
              </a:defRPr>
            </a:pPr>
            <a:r>
              <a:t>Build a complete end-to-end data pipeline to analyze and predict HVAC equipment installations (heat pumps, air conditioning) across 96 metropolitan departments by cross-referencing energy, weather, economic, and construction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24242"/>
                </a:solidFill>
                <a:latin typeface="Calibri"/>
              </a:defRPr>
            </a:pPr>
            <a:r>
              <a:t>  Collect &amp; merge 6 open data sources (ADEME, Open-Meteo, INSEE, Eurostat, SITADEL)</a:t>
            </a:r>
          </a:p>
          <a:p>
            <a:pPr>
              <a:spcAft>
                <a:spcPts val="600"/>
              </a:spcAft>
              <a:defRPr sz="1500">
                <a:solidFill>
                  <a:srgbClr val="424242"/>
                </a:solidFill>
                <a:latin typeface="Calibri"/>
              </a:defRPr>
            </a:pPr>
            <a:r>
              <a:t>  Build ~100+ ML features with domain expertise (PAC efficiency, altitude, climate)</a:t>
            </a:r>
          </a:p>
          <a:p>
            <a:pPr>
              <a:spcAft>
                <a:spcPts val="600"/>
              </a:spcAft>
              <a:defRPr sz="1500">
                <a:solidFill>
                  <a:srgbClr val="424242"/>
                </a:solidFill>
                <a:latin typeface="Calibri"/>
              </a:defRPr>
            </a:pPr>
            <a:r>
              <a:t>  Train &amp; compare ML models: Ridge, LightGBM, Prophet, LSTM</a:t>
            </a:r>
          </a:p>
          <a:p>
            <a:pPr>
              <a:spcAft>
                <a:spcPts val="600"/>
              </a:spcAft>
              <a:defRPr sz="1500">
                <a:solidFill>
                  <a:srgbClr val="424242"/>
                </a:solidFill>
                <a:latin typeface="Calibri"/>
              </a:defRPr>
            </a:pPr>
            <a:r>
              <a:t>  Serve predictions via REST API (FastAPI) + interactive dashboard (Streamlit)</a:t>
            </a:r>
          </a:p>
          <a:p>
            <a:pPr>
              <a:spcAft>
                <a:spcPts val="600"/>
              </a:spcAft>
              <a:defRPr sz="1500">
                <a:solidFill>
                  <a:srgbClr val="424242"/>
                </a:solidFill>
                <a:latin typeface="Calibri"/>
              </a:defRPr>
            </a:pPr>
            <a:r>
              <a:t>  Deploy with Docker, Kubernetes manifests, Airflow orchestration</a:t>
            </a:r>
          </a:p>
          <a:p>
            <a:pPr>
              <a:spcAft>
                <a:spcPts val="600"/>
              </a:spcAft>
              <a:defRPr sz="1500">
                <a:solidFill>
                  <a:srgbClr val="424242"/>
                </a:solidFill>
                <a:latin typeface="Calibri"/>
              </a:defRPr>
            </a:pPr>
            <a:r>
              <a:t>  Demonstrate end-to-end Data Science skills for Bac+5 certification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Design Principles:  100% local-first (SQLite)  |  Portable &amp; reproducible  |  All Open Data (no API key)  |  Professional-grade code &amp;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02  Data Sources &amp; Collection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DPE ADEME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data.ademe.fr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96 departments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Energy diagnostics (PAC detection)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~1.4M rows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Open-Meteo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archive-api.open-meteo.com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96 prefectures, 7 years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Temperature, HDD/CDD, frost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~250K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INSEE BDM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bdm.insee.fr (SDMX)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France, 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Confidence, IPI, business climate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~500 rows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Eurostat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eurostat package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France, monthly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Industrial Production Index HVAC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~200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SITADEL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DiDo API (SDES)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96 depts, 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Building permits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~5K rows</a:t>
                      </a:r>
                    </a:p>
                  </a:txBody>
                  <a:tcPr anchor="ctr"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INSEE Filosofi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Reference CSV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96 depts (static)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Income, price/m2, housing stock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96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47A1"/>
                </a:solidFill>
                <a:latin typeface="Calibri"/>
              </a:defRPr>
            </a:pPr>
            <a:r>
              <a:t>All sources are 100% Open Data — no API key required. DPE ADEME serves as the target variable: each diagnostic mentioning a heat pump or air conditioning system is counted as a recent installation.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Plugin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Each collector inherits from BaseCollector with auto-registration. Adding a new source = 1 file, ~50 lines, zero config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03  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417320" cy="9144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 Sources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Open Data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74520" y="1691640"/>
            <a:ext cx="22860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371600"/>
            <a:ext cx="1417320" cy="9144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Collection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(5 Collectors)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20440" y="1691640"/>
            <a:ext cx="22860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40" y="1371600"/>
            <a:ext cx="1417320" cy="9144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Lake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CSV / SQLite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66360" y="1691640"/>
            <a:ext cx="22860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371600"/>
            <a:ext cx="1417320" cy="9144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ETL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Clean + Merge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12280" y="1691640"/>
            <a:ext cx="22860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1371600"/>
            <a:ext cx="14173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Features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~100 variables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58200" y="1691640"/>
            <a:ext cx="22860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1371600"/>
            <a:ext cx="1417320" cy="9144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 Models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Ridge, LightGBM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04120" y="1691640"/>
            <a:ext cx="22860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20" y="1371600"/>
            <a:ext cx="1417320" cy="9144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+ Dashboard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FastAPI + 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Tech Stack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Technologies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Python 3.10+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pandas, numpy, SQLAlchemy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ML / 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scikit-learn, LightGBM, Prophet, PyTorch (LSTM), SHAP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FastAPI, Pydantic, uvicorn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Streamlit, Plotly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SQLite, PostgreSQL, SQL Server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DevOps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Docker, Kubernetes, Airflow, Makefile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pCloud (sync), Render.com (deploy)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04  Data Pipeline (ELT)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ELT Pattern: Load raw first, then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Raw CSVs in data/raw/ are the source of truth. If a cleaning rule changes, re-run 'clean' without re-collecting. Each step is idempotent and reproducible.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828800" cy="4114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5 APIs  -&gt;  data/raw/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15-45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828800" cy="41148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34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Dedup, NaN, clipping, type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&lt; 2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8288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Multi-source JOIN (date x dept)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383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&lt; 1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8288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319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Lags, rolling,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&lt; 30 sec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182880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80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IQR + Z-score + 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&lt; 30 sec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828800" cy="41148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292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Ridge, LightGBM, Prophet, LSTM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029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1-5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1828800" cy="4114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577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RMSE, MAE, SHAP, visualizations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577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1-3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CLI:  python -m src.pipeline all  |  Interactive mode:  python -m src.pipeline clean -i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05  Feature Engineering (~100+ features)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month_sin/cos, is_heating, is_cooling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Seasonal patterns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Lags (1/3/6 mo)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nb_pac_lag_1m, temp_mean_lag_3m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Auto-correlation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Rolling 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nb_pac_rmean_3m, hdd_sum_rmean_6m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Smoothing &amp; volatility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Variations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nb_pac_diff_1m, pct_change_1m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Market acceleration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Interactions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interact_hdd_confiance, jours_extremes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Cross-domain hypotheses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PAC Efficiency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cop_proxy, pac_viability_score, is_mountain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Heat pump domain logic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temp_mean, HDD, CDD, frost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Local climate drivers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Economic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confiance_menages, IPI HVAC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National market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nb_logements_autorises, surface_m2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Real estate activity</a:t>
                      </a:r>
                    </a:p>
                  </a:txBody>
                  <a:tcPr anchor="ctr"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Socioeconomic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revenu_median, prix_m2, pct_maisons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Department profile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5486400"/>
            <a:ext cx="1143000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Domain Knowledge: PAC Efficiency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COP proxy = 4.5 - 0.08 x frost_days - 0.0005 x altitude_mean  (clipped [1.0, 5.0])</a:t>
            </a:r>
            <a:br/>
            <a:r>
              <a:t>Below -7C, air-source heat pumps lose efficiency (COP &lt; 2.0) — mountain departments have structurally different HVAC adoption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06  Machine Learning — Models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286000" cy="635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R2 = 0.989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Ridge (Best Model)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286000" cy="6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88E5"/>
                </a:solidFill>
                <a:latin typeface="Calibri"/>
              </a:defRPr>
            </a:pPr>
            <a:r>
              <a:t>RMSE = 0.93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Test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8016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280160"/>
            <a:ext cx="2286000" cy="635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F00"/>
                </a:solidFill>
                <a:latin typeface="Calibri"/>
              </a:defRPr>
            </a:pPr>
            <a:r>
              <a:t>5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Trained &amp; Compared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28016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280160"/>
            <a:ext cx="2286000" cy="635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1FA2"/>
                </a:solidFill>
                <a:latin typeface="Calibri"/>
              </a:defRPr>
            </a:pPr>
            <a:r>
              <a:t>551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Passing (pytest)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834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RMSE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R2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RMSE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R2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Usage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1.178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Baseline (best)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1.456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0.9691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1.283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0.9781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Non-linearities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Ridge Exogenous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1.339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External features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Prophet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Seasonality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LSTM (PyTorch)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DL exploration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Top Features (SHAP importance)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nb_installations_pac_lag_1m  — Previous month installations (auto-correlation)</a:t>
            </a:r>
          </a:p>
          <a:p>
            <a:pPr>
              <a:spcAft>
                <a:spcPts val="4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nb_installations_pac_diff_1m  — Month-over-month change (momentum)</a:t>
            </a:r>
          </a:p>
          <a:p>
            <a:pPr>
              <a:spcAft>
                <a:spcPts val="4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nb_dpe_total_rmean_3m  — 3-month rolling DPE average (trend)</a:t>
            </a:r>
          </a:p>
          <a:p>
            <a:pPr>
              <a:spcAft>
                <a:spcPts val="4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temp_mean_rmean_6m  — 6-month rolling temperature (seasonal climate)</a:t>
            </a:r>
          </a:p>
          <a:p>
            <a:pPr>
              <a:spcAft>
                <a:spcPts val="4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hdd_sum_rmean_6m  — 6-month rolling heating degree days (heating demand)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03b  Database — Star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date_id (PK) YYYYMM</a:t>
            </a:r>
            <a:br/>
            <a:r>
              <a:t>year, month, quarter</a:t>
            </a:r>
            <a:br/>
            <a:r>
              <a:t>is_heating</a:t>
            </a:r>
            <a:br/>
            <a:r>
              <a:t>is_cooling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22860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502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dim_geo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geo_id (PK)</a:t>
            </a:r>
            <a:br/>
            <a:r>
              <a:t>dept_code, dept_name</a:t>
            </a:r>
            <a:br/>
            <a:r>
              <a:t>city_ref</a:t>
            </a:r>
            <a:br/>
            <a:r>
              <a:t>latitude, longitude</a:t>
            </a:r>
            <a:br/>
            <a:r>
              <a:t>region_code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37160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1371600"/>
            <a:ext cx="41148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38988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fact_hvac_installations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78308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date_id (FK) + geo_id (FK)</a:t>
            </a:r>
            <a:br/>
            <a:r>
              <a:t>nb_dpe_total (target)</a:t>
            </a:r>
            <a:br/>
            <a:r>
              <a:t>nb_installations_pac (target)</a:t>
            </a:r>
            <a:br/>
            <a:r>
              <a:t>nb_installations_clim</a:t>
            </a:r>
            <a:br/>
            <a:r>
              <a:t>pac_per_1000_logements (normalized)</a:t>
            </a:r>
            <a:br/>
            <a:r>
              <a:t>clim_per_1000_logements (normalized)</a:t>
            </a:r>
            <a:br/>
            <a:r>
              <a:t>temp_mean, HDD, CDD</a:t>
            </a:r>
            <a:br/>
            <a:r>
              <a:t>nb_permis_construire</a:t>
            </a:r>
            <a:br/>
            <a:r>
              <a:t>UNIQUE(date_id, geo_id)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512064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4114800" cy="3657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51389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fact_economic_context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5321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date_id (PK, FK) — month only</a:t>
            </a:r>
            <a:br/>
            <a:r>
              <a:t>confiance_menages, climat_affaires</a:t>
            </a:r>
            <a:br/>
            <a:r>
              <a:t>ipi_manufacturing, ipi_hvac_c28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371600"/>
            <a:ext cx="29260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1371600"/>
            <a:ext cx="2926080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38988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raw_dpe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783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numero_dpe (PK)</a:t>
            </a:r>
            <a:br/>
            <a:r>
              <a:t>date_etablissement_dpe</a:t>
            </a:r>
            <a:br/>
            <a:r>
              <a:t>code_departement</a:t>
            </a:r>
            <a:br/>
            <a:r>
              <a:t>etiquette_dpe (A-G)</a:t>
            </a:r>
            <a:br/>
            <a:r>
              <a:t>type_generateur_chauffage</a:t>
            </a:r>
            <a:br/>
            <a:r>
              <a:t>type_generateur_froid</a:t>
            </a:r>
            <a:br/>
            <a:r>
              <a:t>surface, isolation, costs</a:t>
            </a:r>
            <a:br/>
            <a:r>
              <a:t>INDEX(date, dept)</a:t>
            </a:r>
            <a:br/>
            <a:r>
              <a:t>~30 columns total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46320"/>
            <a:ext cx="29260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8920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Multi-Engine</a:t>
            </a:r>
            <a:br/>
            <a:br/>
            <a:r>
              <a:t>SQLite (default)</a:t>
            </a:r>
            <a:br/>
            <a:r>
              <a:t>PostgreSQL</a:t>
            </a:r>
            <a:br/>
            <a:r>
              <a:t>SQL Server</a:t>
            </a:r>
            <a:br/>
            <a:br/>
            <a:r>
              <a:t>Switch via .env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07  API REST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8E5"/>
                </a:solidFill>
                <a:latin typeface="Calibri"/>
              </a:defRPr>
            </a:pPr>
            <a:r>
              <a:t>FastAPI — 6 Endpoints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/health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API status, version, model info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/predictions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Predictions by department &amp; horizon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/predict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prediction with JSON params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/data/summary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Summary of available data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/model/metrics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ML metrics (RMSE, MAE, R2, MAPE)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/departments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List of 96 departments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Streamlit — 6 Interactive Pages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</a:t>
                      </a:r>
                    </a:p>
                  </a:txBody>
                  <a:tcPr anchor="ctr"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FF6F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Overview, key metrics, data insights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Exploration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Stats, distributions, correlations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Map of 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Interactive map with metric selector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ML Predictions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Predictions vs actual, residuals, SHAP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Model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Comparison table, radar chart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status, pipeline launch, pCloud sync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572000"/>
            <a:ext cx="1106424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Usage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API:  curl "http://localhost:8000/predictions?departement=69&amp;horizon=6"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Dashboard:  streamlit run app/app.py  -&gt;  http://localhost:8501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Swagger docs:  http://localhost:8000/docs  (auto-generated)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Docker:  docker compose up  (API + Dashboard + optional PostgreSQL)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08  Deployment &amp;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Multi-stage build, docker-compose (API + Dashboard + PostgreSQL)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01168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Kubernetes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Deployment, Service, Ingress manifests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011680" cy="4572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DAG for automated pipeline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2011680" cy="4572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Cloud deployment config (render.yaml)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2011680" cy="45720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Makefile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make install / demo / pipeline /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201168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pCloud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46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Automated data + features upload/download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Quality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551 unit tests (pytest) — regression + security + validation</a:t>
            </a:r>
          </a:p>
          <a:p>
            <a:pPr>
              <a:spcAft>
                <a:spcPts val="3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Input validation, injection prevention, dependency checks</a:t>
            </a:r>
          </a:p>
          <a:p>
            <a:pPr>
              <a:spcAft>
                <a:spcPts val="3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Structured logging (DEBUG / INFO / WARNING / ERROR)</a:t>
            </a:r>
          </a:p>
          <a:p>
            <a:pPr>
              <a:spcAft>
                <a:spcPts val="3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  Centralized configuration via frozen dataclasses + .env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09  Data Science Lead — Certification Coverage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 in Project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Governance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GDPR compliance, AI Act, data lineage, maturity assessment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Deployment &amp; Distributed ML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Dockerfile, docker-compose, Kubernetes manifests, Render.com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Database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Star schema, OLAP design, multi-engine (SQLite/PG/MSSQL)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Pipelines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ELT pipeline, 10-step orchestrator, Airbyte alternative documented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Automation &amp;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Airflow DAG, Makefile, CLI with 16 commands</a:t>
                      </a:r>
                    </a:p>
                  </a:txBody>
                  <a:tcPr anchor="ctr"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Reinforcement Learning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Gymnasium RL demo (Q-Learning for HVAC optimization)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End-to-End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Collection: 6 open data sources, 5 custom collectors with plugin architecture</a:t>
            </a:r>
          </a:p>
          <a:p>
            <a:pPr>
              <a:spcAft>
                <a:spcPts val="3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Processing: ELT pipeline, feature engineering (~100+ variables), outlier detection</a:t>
            </a:r>
          </a:p>
          <a:p>
            <a:pPr>
              <a:spcAft>
                <a:spcPts val="3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Modeling: Ridge (R2=0.989), LightGBM, Prophet, LSTM, SHAP feature importance</a:t>
            </a:r>
          </a:p>
          <a:p>
            <a:pPr>
              <a:spcAft>
                <a:spcPts val="3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Serving: FastAPI (6 endpoints) + Streamlit (6 pages) + Docker + Kubernetes</a:t>
            </a:r>
          </a:p>
          <a:p>
            <a:pPr>
              <a:spcAft>
                <a:spcPts val="3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Documentation: 3 technical docs, structured logging, 551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  Key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96 departments covered with 6 open data sources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~100+ engineered features with domain expertise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Ridge R2=0.989 on test set (strong baseline)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Full-stack delivery: API + Dashboard + Docker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551 tests, professional-grade code quality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100% local-first, portable,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Scale DPE collection to 5-8M records (96 depts)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Feature importance review &amp; column selection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Hyperparameter tuning (Ridge, LightGBM)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LSTM/Transformer with sufficient data volume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Candidate variables: median income, price/m2, housing stock</a:t>
            </a:r>
          </a:p>
          <a:p>
            <a:pPr>
              <a:spcAft>
                <a:spcPts val="5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  Medium article (data storytelling)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Data-Driven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Calibri"/>
              </a:defRPr>
            </a:pPr>
            <a:r>
              <a:t>The HVAC market is driven primarily by auto-correlation (previous month installations), climate seasonality (HDD/CDD), and macro-economic confidence. Normalized targets (pac_per_1000_logements) remove departmental scale bias and enable fair comparison between urban (Rhone ~300/mo) and rural departments (~10/mo). Mountain departments show structurally different adoption patterns due to heat pump efficiency constraints below -7C.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108960"/>
            <a:ext cx="2743200" cy="381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Patrice DUCLOS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Senior Data Analyst  |  20 years of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github.com/PDUCLOS/Projet-HVAC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Data Science Lead — Jedha Bootcamp (Bac+5, RNCP Level 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